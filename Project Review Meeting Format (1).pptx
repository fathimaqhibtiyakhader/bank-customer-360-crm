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86" r:id="rId2"/>
    <p:sldId id="260" r:id="rId3"/>
    <p:sldId id="278" r:id="rId4"/>
    <p:sldId id="257" r:id="rId5"/>
    <p:sldId id="321" r:id="rId6"/>
    <p:sldId id="326" r:id="rId7"/>
    <p:sldId id="322" r:id="rId8"/>
    <p:sldId id="323" r:id="rId9"/>
    <p:sldId id="324" r:id="rId10"/>
    <p:sldId id="328" r:id="rId11"/>
    <p:sldId id="329" r:id="rId12"/>
    <p:sldId id="330" r:id="rId13"/>
    <p:sldId id="331" r:id="rId14"/>
    <p:sldId id="332" r:id="rId15"/>
    <p:sldId id="333" r:id="rId16"/>
    <p:sldId id="277" r:id="rId17"/>
    <p:sldId id="320" r:id="rId18"/>
    <p:sldId id="327" r:id="rId1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3F672E-6187-A7B0-FC0F-B7129E99C5F6}" v="43" dt="2026-06-12T07:40:16.6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6/18/2026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6/18/2026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zoho.com/crm/verticals/financial-services/" TargetMode="External"/><Relationship Id="rId2" Type="http://schemas.openxmlformats.org/officeDocument/2006/relationships/hyperlink" Target="https://www.salesforce.com/financial-services/cloud/crm/" TargetMode="Externa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57004"/>
            <a:ext cx="7772400" cy="188801"/>
          </a:xfrm>
        </p:spPr>
        <p:txBody>
          <a:bodyPr>
            <a:normAutofit fontScale="90000"/>
          </a:bodyPr>
          <a:lstStyle/>
          <a:p>
            <a:pPr>
              <a:defRPr/>
            </a:pPr>
            <a:br>
              <a:rPr lang="en-US" sz="1800" b="0">
                <a:solidFill>
                  <a:schemeClr val="tx1"/>
                </a:solidFill>
                <a:latin typeface="Times New Roman" pitchFamily="18" charset="0"/>
                <a:cs typeface="Times New Roman" pitchFamily="18" charset="0"/>
              </a:rPr>
            </a:br>
            <a:r>
              <a:rPr lang="en-US" sz="2200" b="0">
                <a:solidFill>
                  <a:schemeClr val="tx1"/>
                </a:solidFill>
                <a:latin typeface="Times New Roman" pitchFamily="18" charset="0"/>
                <a:cs typeface="Times New Roman" pitchFamily="18" charset="0"/>
              </a:rPr>
              <a:t>A</a:t>
            </a:r>
            <a:br>
              <a:rPr lang="en-US" sz="1800" b="0">
                <a:solidFill>
                  <a:schemeClr val="tx1"/>
                </a:solidFill>
                <a:latin typeface="Times New Roman" pitchFamily="18" charset="0"/>
                <a:cs typeface="Times New Roman" pitchFamily="18" charset="0"/>
              </a:rPr>
            </a:br>
            <a:r>
              <a:rPr lang="en-US" sz="3600" b="1">
                <a:solidFill>
                  <a:srgbClr val="FF0000"/>
                </a:solidFill>
                <a:latin typeface="Times New Roman" pitchFamily="18" charset="0"/>
                <a:cs typeface="Times New Roman" pitchFamily="18" charset="0"/>
              </a:rPr>
              <a:t>Project Review Meeting  </a:t>
            </a:r>
            <a:br>
              <a:rPr lang="en-US" sz="2200">
                <a:latin typeface="Times New Roman" pitchFamily="18" charset="0"/>
                <a:cs typeface="Times New Roman" pitchFamily="18" charset="0"/>
              </a:rPr>
            </a:br>
            <a:r>
              <a:rPr lang="en-US" sz="2200" b="0">
                <a:solidFill>
                  <a:schemeClr val="tx1"/>
                </a:solidFill>
                <a:latin typeface="Times New Roman" pitchFamily="18" charset="0"/>
                <a:cs typeface="Times New Roman" pitchFamily="18" charset="0"/>
              </a:rPr>
              <a:t> on</a:t>
            </a:r>
            <a:br>
              <a:rPr lang="en-US" sz="2200">
                <a:latin typeface="Times New Roman" pitchFamily="18" charset="0"/>
                <a:cs typeface="Times New Roman" pitchFamily="18" charset="0"/>
              </a:rPr>
            </a:br>
            <a:r>
              <a:rPr lang="en-US" sz="3200">
                <a:latin typeface="Times New Roman" pitchFamily="18" charset="0"/>
                <a:cs typeface="Times New Roman" pitchFamily="18" charset="0"/>
              </a:rPr>
              <a:t> </a:t>
            </a:r>
            <a:r>
              <a:rPr lang="en-US" sz="3200" b="1"/>
              <a:t>Bank Customer 360 – CRM View</a:t>
            </a:r>
            <a:br>
              <a:rPr lang="en-US" sz="3200" b="1"/>
            </a:br>
            <a:r>
              <a:rPr lang="en-US" sz="3200">
                <a:latin typeface="Times New Roman" pitchFamily="18" charset="0"/>
                <a:cs typeface="Times New Roman" pitchFamily="18" charset="0"/>
              </a:rPr>
              <a:t> </a:t>
            </a:r>
            <a:endParaRPr lang="en-US" sz="4000" b="1">
              <a:latin typeface="Times New Roman" pitchFamily="18" charset="0"/>
              <a:cs typeface="Times New Roman" pitchFamily="18" charset="0"/>
            </a:endParaRPr>
          </a:p>
        </p:txBody>
      </p:sp>
      <p:sp>
        <p:nvSpPr>
          <p:cNvPr id="3" name="Subtitle 2"/>
          <p:cNvSpPr>
            <a:spLocks noGrp="1"/>
          </p:cNvSpPr>
          <p:nvPr>
            <p:ph type="subTitle" idx="1"/>
          </p:nvPr>
        </p:nvSpPr>
        <p:spPr>
          <a:xfrm>
            <a:off x="349685" y="1815126"/>
            <a:ext cx="8458200" cy="2895600"/>
          </a:xfrm>
        </p:spPr>
        <p:txBody>
          <a:bodyPr vert="horz" lIns="91440" tIns="45720" rIns="91440" bIns="45720" rtlCol="0" anchor="t">
            <a:normAutofit fontScale="40000" lnSpcReduction="20000"/>
          </a:bodyPr>
          <a:lstStyle/>
          <a:p>
            <a:pPr marR="0" algn="ctr" eaLnBrk="1" hangingPunct="1">
              <a:lnSpc>
                <a:spcPct val="80000"/>
              </a:lnSpc>
              <a:defRPr/>
            </a:pPr>
            <a:endParaRPr lang="en-US" sz="200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a:solidFill>
                <a:srgbClr val="00B0F0"/>
              </a:solidFill>
              <a:latin typeface="Times New Roman" pitchFamily="18" charset="0"/>
              <a:cs typeface="Times New Roman" pitchFamily="18" charset="0"/>
            </a:endParaRPr>
          </a:p>
          <a:p>
            <a:pPr marR="0" eaLnBrk="1" hangingPunct="1">
              <a:lnSpc>
                <a:spcPct val="80000"/>
              </a:lnSpc>
              <a:defRPr/>
            </a:pPr>
            <a:r>
              <a:rPr lang="en-US" sz="2600" b="1">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a:solidFill>
                <a:srgbClr val="00B0F0"/>
              </a:solidFill>
              <a:latin typeface="Times New Roman" pitchFamily="18" charset="0"/>
              <a:cs typeface="Times New Roman" pitchFamily="18" charset="0"/>
            </a:endParaRPr>
          </a:p>
          <a:p>
            <a:pPr>
              <a:lnSpc>
                <a:spcPct val="80000"/>
              </a:lnSpc>
              <a:defRPr/>
            </a:pPr>
            <a:r>
              <a:rPr lang="en-US" sz="3300">
                <a:solidFill>
                  <a:srgbClr val="0D0D0D"/>
                </a:solidFill>
                <a:latin typeface="Times New Roman"/>
                <a:cs typeface="Times New Roman"/>
              </a:rPr>
              <a:t>Name:  </a:t>
            </a:r>
            <a:r>
              <a:rPr lang="en-US" sz="3600">
                <a:solidFill>
                  <a:schemeClr val="tx1"/>
                </a:solidFill>
              </a:rPr>
              <a:t>Fathima Qhibtiya Khader</a:t>
            </a:r>
            <a:r>
              <a:rPr lang="en-US" sz="3300" dirty="0">
                <a:solidFill>
                  <a:schemeClr val="tx1"/>
                </a:solidFill>
                <a:latin typeface="Times New Roman"/>
                <a:cs typeface="Times New Roman"/>
              </a:rPr>
              <a:t>          </a:t>
            </a:r>
            <a:r>
              <a:rPr lang="en-US" sz="3300">
                <a:solidFill>
                  <a:srgbClr val="0D0D0D"/>
                </a:solidFill>
                <a:latin typeface="Times New Roman"/>
                <a:cs typeface="Times New Roman"/>
              </a:rPr>
              <a:t>roll no: 2520030155</a:t>
            </a:r>
          </a:p>
          <a:p>
            <a:pPr marR="0" eaLnBrk="1" hangingPunct="1">
              <a:lnSpc>
                <a:spcPct val="80000"/>
              </a:lnSpc>
              <a:defRPr/>
            </a:pPr>
            <a:r>
              <a:rPr lang="en-US" sz="3300">
                <a:solidFill>
                  <a:srgbClr val="0D0D0D"/>
                </a:solidFill>
                <a:latin typeface="Times New Roman" pitchFamily="18" charset="0"/>
                <a:cs typeface="Times New Roman" pitchFamily="18" charset="0"/>
              </a:rPr>
              <a:t>Name:  Datla Sri Sai Purna Mahija          roll no: 2520030261</a:t>
            </a:r>
          </a:p>
          <a:p>
            <a:pPr>
              <a:lnSpc>
                <a:spcPct val="80000"/>
              </a:lnSpc>
              <a:defRPr/>
            </a:pPr>
            <a:endParaRPr lang="en-US" sz="3600" b="1">
              <a:solidFill>
                <a:srgbClr val="00B0F0"/>
              </a:solidFill>
              <a:latin typeface="Times New Roman" pitchFamily="18" charset="0"/>
              <a:cs typeface="Times New Roman" pitchFamily="18" charset="0"/>
            </a:endParaRPr>
          </a:p>
          <a:p>
            <a:pPr>
              <a:lnSpc>
                <a:spcPct val="80000"/>
              </a:lnSpc>
              <a:defRPr/>
            </a:pPr>
            <a:r>
              <a:rPr lang="en-US" sz="3600" b="1">
                <a:solidFill>
                  <a:srgbClr val="00B0F0"/>
                </a:solidFill>
                <a:latin typeface="Times New Roman"/>
                <a:cs typeface="Times New Roman"/>
              </a:rPr>
              <a:t>Team Number: 7</a:t>
            </a:r>
          </a:p>
          <a:p>
            <a:pPr marR="0" algn="ctr" eaLnBrk="1" hangingPunct="1">
              <a:lnSpc>
                <a:spcPct val="80000"/>
              </a:lnSpc>
              <a:defRPr/>
            </a:pPr>
            <a:endParaRPr lang="en-US" sz="330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a:cs typeface="Times New Roman"/>
              </a:rPr>
              <a:t>Dr. </a:t>
            </a:r>
            <a:r>
              <a:rPr lang="en-US" sz="3400" b="1" dirty="0" err="1">
                <a:solidFill>
                  <a:srgbClr val="00B0F0"/>
                </a:solidFill>
                <a:latin typeface="Times New Roman"/>
                <a:cs typeface="Times New Roman"/>
              </a:rPr>
              <a:t>Nirmalajyothi</a:t>
            </a:r>
            <a:endParaRPr lang="en-US" sz="3400" b="1" dirty="0" err="1">
              <a:solidFill>
                <a:srgbClr val="00B0F0"/>
              </a:solidFill>
              <a:latin typeface="Times New Roman" pitchFamily="18" charset="0"/>
              <a:cs typeface="Times New Roman" pitchFamily="18" charset="0"/>
            </a:endParaRPr>
          </a:p>
          <a:p>
            <a:pPr marR="0" algn="ctr" eaLnBrk="1" hangingPunct="1">
              <a:lnSpc>
                <a:spcPct val="80000"/>
              </a:lnSpc>
              <a:defRPr/>
            </a:pPr>
            <a:r>
              <a:rPr lang="en-US" sz="3400" b="1">
                <a:solidFill>
                  <a:srgbClr val="00B0F0"/>
                </a:solidFill>
                <a:latin typeface="Times New Roman" pitchFamily="18" charset="0"/>
                <a:cs typeface="Times New Roman" pitchFamily="18" charset="0"/>
              </a:rPr>
              <a:t>Associate Professor </a:t>
            </a:r>
          </a:p>
          <a:p>
            <a:pPr marR="0" algn="ctr" eaLnBrk="1" hangingPunct="1">
              <a:lnSpc>
                <a:spcPct val="80000"/>
              </a:lnSpc>
              <a:defRPr/>
            </a:pPr>
            <a:endParaRPr lang="en-US" sz="2400" b="1">
              <a:solidFill>
                <a:srgbClr val="0070C0"/>
              </a:solidFill>
              <a:latin typeface="Times New Roman" pitchFamily="18" charset="0"/>
              <a:cs typeface="Times New Roman" pitchFamily="18" charset="0"/>
            </a:endParaRPr>
          </a:p>
          <a:p>
            <a:pPr marR="0" algn="ctr" eaLnBrk="1" hangingPunct="1">
              <a:lnSpc>
                <a:spcPct val="80000"/>
              </a:lnSpc>
              <a:defRPr/>
            </a:pPr>
            <a:r>
              <a:rPr lang="en-US" sz="4400" b="1">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a:cs typeface="Times New Roman"/>
              </a:rPr>
              <a:t>                                                </a:t>
            </a:r>
            <a:r>
              <a:rPr lang="en-US" sz="2400" dirty="0">
                <a:solidFill>
                  <a:srgbClr val="0D0D0D"/>
                </a:solidFill>
                <a:latin typeface="Times New Roman"/>
                <a:cs typeface="Times New Roman"/>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a:latin typeface="Times New Roman" pitchFamily="18" charset="0"/>
                <a:cs typeface="Times New Roman" pitchFamily="18" charset="0"/>
              </a:rPr>
              <a:t>Abstract</a:t>
            </a:r>
          </a:p>
          <a:p>
            <a:r>
              <a:rPr lang="en-US">
                <a:latin typeface="Times New Roman" pitchFamily="18" charset="0"/>
                <a:cs typeface="Times New Roman" pitchFamily="18" charset="0"/>
              </a:rPr>
              <a:t>Introduction</a:t>
            </a:r>
          </a:p>
          <a:p>
            <a:r>
              <a:rPr lang="en-US">
                <a:latin typeface="Times New Roman" pitchFamily="18" charset="0"/>
                <a:cs typeface="Times New Roman" pitchFamily="18" charset="0"/>
              </a:rPr>
              <a:t>Problem Statement</a:t>
            </a:r>
          </a:p>
          <a:p>
            <a:r>
              <a:rPr lang="en-US">
                <a:latin typeface="Times New Roman" pitchFamily="18" charset="0"/>
                <a:cs typeface="Times New Roman" pitchFamily="18" charset="0"/>
              </a:rPr>
              <a:t>Project Flow Diagram</a:t>
            </a:r>
          </a:p>
          <a:p>
            <a:r>
              <a:rPr lang="en-US">
                <a:latin typeface="Times New Roman" pitchFamily="18" charset="0"/>
                <a:cs typeface="Times New Roman" pitchFamily="18" charset="0"/>
              </a:rPr>
              <a:t>Objectives with Justification</a:t>
            </a:r>
          </a:p>
          <a:p>
            <a:r>
              <a:rPr lang="en-US">
                <a:latin typeface="Times New Roman" pitchFamily="18" charset="0"/>
                <a:cs typeface="Times New Roman" pitchFamily="18" charset="0"/>
              </a:rPr>
              <a:t>Modules[Frontend web pages]</a:t>
            </a:r>
          </a:p>
          <a:p>
            <a:r>
              <a:rPr lang="en-US">
                <a:latin typeface="Times New Roman" pitchFamily="18" charset="0"/>
                <a:cs typeface="Times New Roman" pitchFamily="18" charset="0"/>
              </a:rPr>
              <a:t>Expected Outcomes of the Proposed Work</a:t>
            </a:r>
          </a:p>
          <a:p>
            <a:r>
              <a:rPr lang="en-US">
                <a:latin typeface="Times New Roman" pitchFamily="18" charset="0"/>
                <a:cs typeface="Times New Roman" pitchFamily="18" charset="0"/>
              </a:rPr>
              <a:t>Conclusion </a:t>
            </a:r>
          </a:p>
          <a:p>
            <a:r>
              <a:rPr lang="en-US">
                <a:latin typeface="Times New Roman" pitchFamily="18" charset="0"/>
                <a:cs typeface="Times New Roman" pitchFamily="18" charset="0"/>
              </a:rPr>
              <a:t>References</a:t>
            </a:r>
          </a:p>
          <a:p>
            <a:endParaRPr lang="en-US">
              <a:latin typeface="Times New Roman" pitchFamily="18" charset="0"/>
              <a:cs typeface="Times New Roman" pitchFamily="18" charset="0"/>
            </a:endParaRPr>
          </a:p>
          <a:p>
            <a:endParaRPr lang="en-US">
              <a:latin typeface="Times New Roman" pitchFamily="18" charset="0"/>
              <a:cs typeface="Times New Roman" pitchFamily="18" charset="0"/>
            </a:endParaRPr>
          </a:p>
          <a:p>
            <a:endParaRPr lang="en-US"/>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a:solidFill>
                  <a:srgbClr val="0070C0"/>
                </a:solidFill>
                <a:latin typeface="Times New Roman" pitchFamily="18" charset="0"/>
                <a:cs typeface="Times New Roman" pitchFamily="18" charset="0"/>
              </a:rPr>
              <a:t>Abstract</a:t>
            </a:r>
            <a:endParaRPr lang="en-US" sz="280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rmAutofit fontScale="70000" lnSpcReduction="20000"/>
          </a:bodyPr>
          <a:lstStyle/>
          <a:p>
            <a:r>
              <a:rPr lang="en-US"/>
              <a:t>Modern banks store customer information across multiple systems such as account management, loans, KYC records, service requests, and investment platforms. Relationship Managers (RMs) spend significant time switching between these systems, resulting in reduced productivity and poor customer experience.</a:t>
            </a:r>
          </a:p>
          <a:p>
            <a:endParaRPr lang="en-US"/>
          </a:p>
          <a:p>
            <a:r>
              <a:rPr lang="en-US"/>
              <a:t>The Bank Customer 360 CRM View is a unified web-based dashboard that combines all customer-related information into a single interface. The system provides customer profiles, products held, service requests, interaction history, KYC information, audit trails, and intelligent product recommendations through the Next Best Action (NBA) module.</a:t>
            </a:r>
          </a:p>
          <a:p>
            <a:endParaRPr lang="en-US"/>
          </a:p>
          <a:p>
            <a:r>
              <a:rPr lang="en-US"/>
              <a:t>The project improves RM efficiency, enhances customer satisfaction, increases cross-selling opportunities, and supports better decision-making using real-time customer insights.</a:t>
            </a:r>
          </a:p>
          <a:p>
            <a:endParaRPr lang="en-US"/>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p:txBody>
          <a:bodyPr>
            <a:normAutofit fontScale="70000" lnSpcReduction="20000"/>
          </a:bodyPr>
          <a:lstStyle/>
          <a:p>
            <a:r>
              <a:rPr lang="en-US"/>
              <a:t>Customer Relationship Management (CRM) plays a crucial role in modern banking.</a:t>
            </a:r>
          </a:p>
          <a:p>
            <a:pPr>
              <a:buFont typeface="Wingdings" panose="05000000000000000000" pitchFamily="2" charset="2"/>
              <a:buChar char="Ø"/>
            </a:pPr>
            <a:r>
              <a:rPr lang="en-US" b="1"/>
              <a:t>Current Challenges:</a:t>
            </a:r>
          </a:p>
          <a:p>
            <a:r>
              <a:rPr lang="en-US"/>
              <a:t>Customer data exists in multiple systems. </a:t>
            </a:r>
          </a:p>
          <a:p>
            <a:r>
              <a:rPr lang="en-US"/>
              <a:t>Relationship managers spend time searching for information. </a:t>
            </a:r>
          </a:p>
          <a:p>
            <a:r>
              <a:rPr lang="en-US"/>
              <a:t>Service requests are difficult to track. </a:t>
            </a:r>
          </a:p>
          <a:p>
            <a:r>
              <a:rPr lang="en-US"/>
              <a:t>Cross-selling opportunities are often missed. </a:t>
            </a:r>
          </a:p>
          <a:p>
            <a:r>
              <a:rPr lang="en-US"/>
              <a:t>Customer service becomes inconsistent. </a:t>
            </a:r>
          </a:p>
          <a:p>
            <a:pPr>
              <a:buFont typeface="Wingdings" panose="05000000000000000000" pitchFamily="2" charset="2"/>
              <a:buChar char="Ø"/>
            </a:pPr>
            <a:r>
              <a:rPr lang="en-US" b="1"/>
              <a:t>Proposed Solution:</a:t>
            </a:r>
          </a:p>
          <a:p>
            <a:r>
              <a:rPr lang="en-US"/>
              <a:t>Develop a 360-degree customer view. </a:t>
            </a:r>
          </a:p>
          <a:p>
            <a:r>
              <a:rPr lang="en-US"/>
              <a:t>Provide a centralized dashboard. </a:t>
            </a:r>
          </a:p>
          <a:p>
            <a:r>
              <a:rPr lang="en-US"/>
              <a:t>Enable faster access to customer information. </a:t>
            </a:r>
          </a:p>
          <a:p>
            <a:r>
              <a:rPr lang="en-US"/>
              <a:t>Improve customer engagement and operational efficiency.</a:t>
            </a:r>
          </a:p>
          <a:p>
            <a:endParaRPr lang="en-US"/>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a:solidFill>
                  <a:srgbClr val="0070C0"/>
                </a:solidFill>
                <a:latin typeface="Times New Roman" pitchFamily="18" charset="0"/>
                <a:cs typeface="Times New Roman" pitchFamily="18" charset="0"/>
              </a:rPr>
              <a:t>Problem Statement</a:t>
            </a:r>
            <a:br>
              <a:rPr lang="en-US" b="1">
                <a:solidFill>
                  <a:srgbClr val="0070C0"/>
                </a:solidFill>
                <a:latin typeface="Times New Roman" pitchFamily="18" charset="0"/>
                <a:cs typeface="Times New Roman" pitchFamily="18" charset="0"/>
              </a:rPr>
            </a:br>
            <a:endParaRPr lang="en-US" b="1">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p:txBody>
          <a:bodyPr>
            <a:normAutofit fontScale="70000" lnSpcReduction="20000"/>
          </a:bodyPr>
          <a:lstStyle/>
          <a:p>
            <a:pPr marL="0" indent="0">
              <a:buNone/>
            </a:pPr>
            <a:r>
              <a:rPr lang="en-US"/>
              <a:t>In banking organizations, customer information is scattered across various legacy applications.</a:t>
            </a:r>
          </a:p>
          <a:p>
            <a:pPr marL="0" indent="0">
              <a:buNone/>
            </a:pPr>
            <a:endParaRPr lang="en-US"/>
          </a:p>
          <a:p>
            <a:pPr marL="0" indent="0">
              <a:buNone/>
            </a:pPr>
            <a:r>
              <a:rPr lang="en-US" b="1"/>
              <a:t>This leads to:</a:t>
            </a:r>
          </a:p>
          <a:p>
            <a:r>
              <a:rPr lang="en-US"/>
              <a:t>Increased operational complexity. </a:t>
            </a:r>
          </a:p>
          <a:p>
            <a:r>
              <a:rPr lang="en-US"/>
              <a:t>Delayed customer service. </a:t>
            </a:r>
          </a:p>
          <a:p>
            <a:r>
              <a:rPr lang="en-US"/>
              <a:t>Lack of personalized recommendations. </a:t>
            </a:r>
          </a:p>
          <a:p>
            <a:r>
              <a:rPr lang="en-US"/>
              <a:t>Poor visibility of customer interactions. </a:t>
            </a:r>
          </a:p>
          <a:p>
            <a:r>
              <a:rPr lang="en-US"/>
              <a:t>Reduced relationship manager productivity. </a:t>
            </a:r>
          </a:p>
          <a:p>
            <a:endParaRPr lang="en-US"/>
          </a:p>
          <a:p>
            <a:pPr marL="0" indent="0">
              <a:buNone/>
            </a:pPr>
            <a:r>
              <a:rPr lang="en-US"/>
              <a:t>There is a need for a centralized CRM system that integrates customer data, service history, products, and recommendations into a single platform. </a:t>
            </a:r>
          </a:p>
          <a:p>
            <a:endParaRPr lang="en-US"/>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a:solidFill>
                  <a:srgbClr val="0070C0"/>
                </a:solidFill>
                <a:latin typeface="Times New Roman" pitchFamily="18" charset="0"/>
                <a:cs typeface="Times New Roman" pitchFamily="18" charset="0"/>
              </a:rPr>
              <a:t>Project Flow Diagram</a:t>
            </a:r>
          </a:p>
        </p:txBody>
      </p:sp>
      <p:pic>
        <p:nvPicPr>
          <p:cNvPr id="4" name="Content Placeholder 3" descr="A diagram of a company&amp;#39;s project flow&#10;&#10;AI-generated content may be incorrect.">
            <a:extLst>
              <a:ext uri="{FF2B5EF4-FFF2-40B4-BE49-F238E27FC236}">
                <a16:creationId xmlns:a16="http://schemas.microsoft.com/office/drawing/2014/main" id="{1D3795D9-B639-8A2E-FBA3-D55B84C3D806}"/>
              </a:ext>
            </a:extLst>
          </p:cNvPr>
          <p:cNvPicPr>
            <a:picLocks noGrp="1" noChangeAspect="1"/>
          </p:cNvPicPr>
          <p:nvPr>
            <p:ph idx="1"/>
          </p:nvPr>
        </p:nvPicPr>
        <p:blipFill>
          <a:blip r:embed="rId2"/>
          <a:stretch>
            <a:fillRect/>
          </a:stretch>
        </p:blipFill>
        <p:spPr>
          <a:xfrm>
            <a:off x="1177528" y="1600201"/>
            <a:ext cx="6788944" cy="4525963"/>
          </a:xfrm>
          <a:prstGeom prst="rect">
            <a:avLst/>
          </a:prstGeom>
        </p:spPr>
      </p:pic>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a:solidFill>
                  <a:srgbClr val="0070C0"/>
                </a:solidFill>
                <a:latin typeface="Times New Roman" pitchFamily="18" charset="0"/>
                <a:cs typeface="Times New Roman" pitchFamily="18" charset="0"/>
              </a:rPr>
              <a:t>Objectives with Justification</a:t>
            </a:r>
            <a:br>
              <a:rPr lang="en-US" b="1">
                <a:solidFill>
                  <a:srgbClr val="0070C0"/>
                </a:solidFill>
                <a:latin typeface="Times New Roman" pitchFamily="18" charset="0"/>
                <a:cs typeface="Times New Roman" pitchFamily="18" charset="0"/>
              </a:rPr>
            </a:br>
            <a:endParaRPr lang="en-US" b="1">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295400"/>
            <a:ext cx="8229600" cy="5334001"/>
          </a:xfrm>
        </p:spPr>
        <p:txBody>
          <a:bodyPr>
            <a:normAutofit fontScale="25000" lnSpcReduction="20000"/>
          </a:bodyPr>
          <a:lstStyle/>
          <a:p>
            <a:pPr>
              <a:buFont typeface="Wingdings" panose="05000000000000000000" pitchFamily="2" charset="2"/>
              <a:buChar char="Ø"/>
            </a:pPr>
            <a:r>
              <a:rPr lang="en-US" sz="7200" b="1"/>
              <a:t>Objective 1</a:t>
            </a:r>
          </a:p>
          <a:p>
            <a:r>
              <a:rPr lang="en-US" sz="7200"/>
              <a:t>Provide a unified customer dashboard.</a:t>
            </a:r>
          </a:p>
          <a:p>
            <a:r>
              <a:rPr lang="en-US" sz="7200" b="1"/>
              <a:t>Justification</a:t>
            </a:r>
            <a:br>
              <a:rPr lang="en-US" sz="7200"/>
            </a:br>
            <a:r>
              <a:rPr lang="en-US" sz="7200"/>
              <a:t>Reduces time spent switching between systems.</a:t>
            </a:r>
          </a:p>
          <a:p>
            <a:pPr>
              <a:buFont typeface="Wingdings" panose="05000000000000000000" pitchFamily="2" charset="2"/>
              <a:buChar char="Ø"/>
            </a:pPr>
            <a:r>
              <a:rPr lang="en-US" sz="7200" b="1"/>
              <a:t>Objective 2</a:t>
            </a:r>
          </a:p>
          <a:p>
            <a:r>
              <a:rPr lang="en-US" sz="7200"/>
              <a:t>Track customer interactions and service requests.</a:t>
            </a:r>
          </a:p>
          <a:p>
            <a:r>
              <a:rPr lang="en-US" sz="7200" b="1"/>
              <a:t>Justification</a:t>
            </a:r>
            <a:br>
              <a:rPr lang="en-US" sz="7200"/>
            </a:br>
            <a:r>
              <a:rPr lang="en-US" sz="7200"/>
              <a:t>Improves customer service quality.</a:t>
            </a:r>
          </a:p>
          <a:p>
            <a:pPr>
              <a:buFont typeface="Wingdings" panose="05000000000000000000" pitchFamily="2" charset="2"/>
              <a:buChar char="Ø"/>
            </a:pPr>
            <a:r>
              <a:rPr lang="en-US" sz="7200" b="1"/>
              <a:t>Objective 3</a:t>
            </a:r>
          </a:p>
          <a:p>
            <a:r>
              <a:rPr lang="en-US" sz="7200"/>
              <a:t>Provide Next Best Action recommendations.</a:t>
            </a:r>
          </a:p>
          <a:p>
            <a:r>
              <a:rPr lang="en-US" sz="7200" b="1"/>
              <a:t>Justification</a:t>
            </a:r>
            <a:br>
              <a:rPr lang="en-US" sz="7200"/>
            </a:br>
            <a:r>
              <a:rPr lang="en-US" sz="7200"/>
              <a:t>Supports cross-selling and upselling.</a:t>
            </a:r>
          </a:p>
          <a:p>
            <a:pPr>
              <a:buFont typeface="Wingdings" panose="05000000000000000000" pitchFamily="2" charset="2"/>
              <a:buChar char="Ø"/>
            </a:pPr>
            <a:r>
              <a:rPr lang="en-US" sz="7200" b="1"/>
              <a:t>Objective 4</a:t>
            </a:r>
          </a:p>
          <a:p>
            <a:r>
              <a:rPr lang="en-US" sz="7200"/>
              <a:t>Maintain customer profile and KYC information.</a:t>
            </a:r>
          </a:p>
          <a:p>
            <a:r>
              <a:rPr lang="en-US" sz="7200" b="1"/>
              <a:t>Justification</a:t>
            </a:r>
            <a:br>
              <a:rPr lang="en-US" sz="7200"/>
            </a:br>
            <a:r>
              <a:rPr lang="en-US" sz="7200"/>
              <a:t>Ensures compliance and accuracy.</a:t>
            </a:r>
          </a:p>
          <a:p>
            <a:pPr>
              <a:buFont typeface="Wingdings" panose="05000000000000000000" pitchFamily="2" charset="2"/>
              <a:buChar char="Ø"/>
            </a:pPr>
            <a:r>
              <a:rPr lang="en-US" sz="7200" b="1"/>
              <a:t>Objective 5</a:t>
            </a:r>
          </a:p>
          <a:p>
            <a:r>
              <a:rPr lang="en-US" sz="7200"/>
              <a:t>Generate reports and audit trails.</a:t>
            </a:r>
          </a:p>
          <a:p>
            <a:r>
              <a:rPr lang="en-US" sz="7200" b="1"/>
              <a:t>Justification</a:t>
            </a:r>
            <a:br>
              <a:rPr lang="en-US" sz="7200"/>
            </a:br>
            <a:r>
              <a:rPr lang="en-US" sz="7200"/>
              <a:t>Improves transparency and monitoring.</a:t>
            </a:r>
          </a:p>
          <a:p>
            <a:endParaRPr lang="en-US"/>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a:xfrm>
            <a:off x="457200" y="1143000"/>
            <a:ext cx="8229600" cy="5364162"/>
          </a:xfrm>
        </p:spPr>
        <p:txBody>
          <a:bodyPr>
            <a:normAutofit fontScale="25000" lnSpcReduction="20000"/>
          </a:bodyPr>
          <a:lstStyle/>
          <a:p>
            <a:pPr marL="0" indent="0">
              <a:buNone/>
            </a:pPr>
            <a:r>
              <a:rPr lang="en-US" sz="7200" b="1"/>
              <a:t>1. Customer Summary</a:t>
            </a:r>
          </a:p>
          <a:p>
            <a:pPr marL="0" indent="0">
              <a:buNone/>
            </a:pPr>
            <a:r>
              <a:rPr lang="en-US" sz="7200"/>
              <a:t>Displays customer details, segment, risk level, and relationship value.</a:t>
            </a:r>
          </a:p>
          <a:p>
            <a:pPr marL="0" indent="0">
              <a:buNone/>
            </a:pPr>
            <a:r>
              <a:rPr lang="en-US" sz="7200" b="1"/>
              <a:t>2. Products Held</a:t>
            </a:r>
          </a:p>
          <a:p>
            <a:pPr marL="0" indent="0">
              <a:buNone/>
            </a:pPr>
            <a:r>
              <a:rPr lang="en-US" sz="7200"/>
              <a:t>Shows accounts, loans, deposits, insurance, and investments.</a:t>
            </a:r>
          </a:p>
          <a:p>
            <a:pPr marL="0" indent="0">
              <a:buNone/>
            </a:pPr>
            <a:r>
              <a:rPr lang="en-US" sz="7200" b="1"/>
              <a:t>3. Interaction Log</a:t>
            </a:r>
          </a:p>
          <a:p>
            <a:pPr marL="0" indent="0">
              <a:buNone/>
            </a:pPr>
            <a:r>
              <a:rPr lang="en-US" sz="7200"/>
              <a:t>Tracks branch visits, calls, emails, and customer activities.</a:t>
            </a:r>
          </a:p>
          <a:p>
            <a:pPr marL="0" indent="0">
              <a:buNone/>
            </a:pPr>
            <a:r>
              <a:rPr lang="en-US" sz="7200" b="1"/>
              <a:t>4. Note Add</a:t>
            </a:r>
          </a:p>
          <a:p>
            <a:pPr marL="0" indent="0">
              <a:buNone/>
            </a:pPr>
            <a:r>
              <a:rPr lang="en-US" sz="7200"/>
              <a:t>Allows relationship managers to add notes and reminders.</a:t>
            </a:r>
          </a:p>
          <a:p>
            <a:pPr marL="0" indent="0">
              <a:buNone/>
            </a:pPr>
            <a:r>
              <a:rPr lang="en-US" sz="7200" b="1"/>
              <a:t>5. Export</a:t>
            </a:r>
          </a:p>
          <a:p>
            <a:pPr marL="0" indent="0">
              <a:buNone/>
            </a:pPr>
            <a:r>
              <a:rPr lang="en-US" sz="7200"/>
              <a:t>Exports customer information to PDF and Excel.</a:t>
            </a:r>
          </a:p>
          <a:p>
            <a:pPr marL="0" indent="0">
              <a:buNone/>
            </a:pPr>
            <a:r>
              <a:rPr lang="en-US" sz="7200" b="1"/>
              <a:t>6. Service Requests</a:t>
            </a:r>
          </a:p>
          <a:p>
            <a:pPr marL="0" indent="0">
              <a:buNone/>
            </a:pPr>
            <a:r>
              <a:rPr lang="en-US" sz="7200"/>
              <a:t>Displays ticket status and complaint tracking.</a:t>
            </a:r>
          </a:p>
          <a:p>
            <a:pPr marL="0" indent="0">
              <a:buNone/>
            </a:pPr>
            <a:r>
              <a:rPr lang="en-US" sz="7200" b="1"/>
              <a:t>7. NBA Display</a:t>
            </a:r>
          </a:p>
          <a:p>
            <a:pPr marL="0" indent="0">
              <a:buNone/>
            </a:pPr>
            <a:r>
              <a:rPr lang="en-US" sz="7200"/>
              <a:t>Provides intelligent product recommendations.</a:t>
            </a:r>
          </a:p>
          <a:p>
            <a:pPr marL="0" indent="0">
              <a:buNone/>
            </a:pPr>
            <a:r>
              <a:rPr lang="en-US" sz="7200" b="1"/>
              <a:t>8. Profile &amp; KYC View</a:t>
            </a:r>
          </a:p>
          <a:p>
            <a:pPr marL="0" indent="0">
              <a:buNone/>
            </a:pPr>
            <a:r>
              <a:rPr lang="en-US" sz="7200"/>
              <a:t>Shows customer profile and KYC verification status.</a:t>
            </a:r>
          </a:p>
          <a:p>
            <a:pPr marL="0" indent="0">
              <a:buNone/>
            </a:pPr>
            <a:r>
              <a:rPr lang="en-US" sz="7200" b="1"/>
              <a:t>9. History &amp; Audit Trail</a:t>
            </a:r>
          </a:p>
          <a:p>
            <a:pPr marL="0" indent="0">
              <a:buNone/>
            </a:pPr>
            <a:r>
              <a:rPr lang="en-US" sz="7200"/>
              <a:t>Maintains records of all updates and modifications.</a:t>
            </a:r>
          </a:p>
          <a:p>
            <a:pPr marL="0" indent="0">
              <a:buNone/>
            </a:pPr>
            <a:r>
              <a:rPr lang="en-US" sz="7200" b="1"/>
              <a:t>10. Admin Panel &amp; RBAC</a:t>
            </a:r>
          </a:p>
          <a:p>
            <a:pPr marL="0" indent="0">
              <a:buNone/>
            </a:pPr>
            <a:r>
              <a:rPr lang="en-US" sz="7200"/>
              <a:t>Provides role-based access and user management.</a:t>
            </a:r>
          </a:p>
          <a:p>
            <a:endParaRPr lang="en-US"/>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a:solidFill>
                  <a:srgbClr val="0070C0"/>
                </a:solidFill>
                <a:latin typeface="Times New Roman" pitchFamily="18" charset="0"/>
                <a:cs typeface="Times New Roman" pitchFamily="18" charset="0"/>
              </a:rPr>
              <a:t>Expected Outcomes of the Proposed Work</a:t>
            </a:r>
            <a:br>
              <a:rPr lang="en-US" b="1">
                <a:solidFill>
                  <a:srgbClr val="0070C0"/>
                </a:solidFill>
                <a:latin typeface="Times New Roman" pitchFamily="18" charset="0"/>
                <a:cs typeface="Times New Roman" pitchFamily="18" charset="0"/>
              </a:rPr>
            </a:br>
            <a:endParaRPr lang="en-US" b="1">
              <a:solidFill>
                <a:srgbClr val="0070C0"/>
              </a:solidFill>
              <a:latin typeface="Times New Roman" pitchFamily="18" charset="0"/>
              <a:cs typeface="Times New Roman" pitchFamily="18" charset="0"/>
            </a:endParaRPr>
          </a:p>
        </p:txBody>
      </p:sp>
      <p:pic>
        <p:nvPicPr>
          <p:cNvPr id="3" name="Content Placeholder 2" descr="A screenshot of a login page&#10;&#10;AI-generated content may be incorrect.">
            <a:extLst>
              <a:ext uri="{FF2B5EF4-FFF2-40B4-BE49-F238E27FC236}">
                <a16:creationId xmlns:a16="http://schemas.microsoft.com/office/drawing/2014/main" id="{609512C3-6CB7-5032-9E45-95F21ED93F10}"/>
              </a:ext>
            </a:extLst>
          </p:cNvPr>
          <p:cNvPicPr>
            <a:picLocks noGrp="1" noChangeAspect="1"/>
          </p:cNvPicPr>
          <p:nvPr>
            <p:ph idx="1"/>
          </p:nvPr>
        </p:nvPicPr>
        <p:blipFill>
          <a:blip r:embed="rId2"/>
          <a:stretch>
            <a:fillRect/>
          </a:stretch>
        </p:blipFill>
        <p:spPr>
          <a:xfrm>
            <a:off x="457200" y="1037303"/>
            <a:ext cx="8229600" cy="4777026"/>
          </a:xfrm>
          <a:prstGeom prst="rect">
            <a:avLst/>
          </a:prstGeom>
        </p:spPr>
      </p:pic>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EF62D-2603-D512-9A69-DED8BC0E4F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14247-8F75-D42B-44DC-5B18573A84A6}"/>
              </a:ext>
            </a:extLst>
          </p:cNvPr>
          <p:cNvSpPr>
            <a:spLocks noGrp="1"/>
          </p:cNvSpPr>
          <p:nvPr>
            <p:ph type="title"/>
          </p:nvPr>
        </p:nvSpPr>
        <p:spPr>
          <a:xfrm>
            <a:off x="1524000" y="274638"/>
            <a:ext cx="7162800" cy="868362"/>
          </a:xfrm>
        </p:spPr>
        <p:txBody>
          <a:bodyPr>
            <a:normAutofit fontScale="90000"/>
          </a:bodyPr>
          <a:lstStyle/>
          <a:p>
            <a:r>
              <a:rPr lang="en-US" sz="3100" b="1">
                <a:solidFill>
                  <a:srgbClr val="0070C0"/>
                </a:solidFill>
                <a:latin typeface="Times New Roman" pitchFamily="18" charset="0"/>
                <a:cs typeface="Times New Roman" pitchFamily="18" charset="0"/>
              </a:rPr>
              <a:t>Expected Outcomes of the Proposed Work</a:t>
            </a:r>
            <a:br>
              <a:rPr lang="en-US" b="1">
                <a:solidFill>
                  <a:srgbClr val="0070C0"/>
                </a:solidFill>
                <a:latin typeface="Times New Roman" pitchFamily="18" charset="0"/>
                <a:cs typeface="Times New Roman" pitchFamily="18" charset="0"/>
              </a:rPr>
            </a:br>
            <a:endParaRPr lang="en-US" b="1">
              <a:solidFill>
                <a:srgbClr val="0070C0"/>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A5F25278-A956-4DC2-EA8B-1275AD823C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pic>
        <p:nvPicPr>
          <p:cNvPr id="7" name="Content Placeholder 6" descr="A screenshot of a computer&#10;&#10;AI-generated content may be incorrect.">
            <a:extLst>
              <a:ext uri="{FF2B5EF4-FFF2-40B4-BE49-F238E27FC236}">
                <a16:creationId xmlns:a16="http://schemas.microsoft.com/office/drawing/2014/main" id="{FEF88F33-8D17-89EE-ED93-61EC34A054E3}"/>
              </a:ext>
            </a:extLst>
          </p:cNvPr>
          <p:cNvPicPr>
            <a:picLocks noGrp="1" noChangeAspect="1"/>
          </p:cNvPicPr>
          <p:nvPr>
            <p:ph idx="1"/>
          </p:nvPr>
        </p:nvPicPr>
        <p:blipFill>
          <a:blip r:embed="rId3"/>
          <a:stretch>
            <a:fillRect/>
          </a:stretch>
        </p:blipFill>
        <p:spPr>
          <a:xfrm>
            <a:off x="595862" y="1600201"/>
            <a:ext cx="7952275" cy="4525963"/>
          </a:xfrm>
          <a:prstGeom prst="rect">
            <a:avLst/>
          </a:prstGeom>
        </p:spPr>
      </p:pic>
    </p:spTree>
    <p:extLst>
      <p:ext uri="{BB962C8B-B14F-4D97-AF65-F5344CB8AC3E}">
        <p14:creationId xmlns:p14="http://schemas.microsoft.com/office/powerpoint/2010/main" val="1095628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4F93D-87AF-BA28-5433-CF6737C5E0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6A67E8-F73B-C7B0-8FAB-0EA846160459}"/>
              </a:ext>
            </a:extLst>
          </p:cNvPr>
          <p:cNvSpPr>
            <a:spLocks noGrp="1"/>
          </p:cNvSpPr>
          <p:nvPr>
            <p:ph type="title"/>
          </p:nvPr>
        </p:nvSpPr>
        <p:spPr>
          <a:xfrm>
            <a:off x="1524000" y="274638"/>
            <a:ext cx="7162800" cy="868362"/>
          </a:xfrm>
        </p:spPr>
        <p:txBody>
          <a:bodyPr>
            <a:normAutofit fontScale="90000"/>
          </a:bodyPr>
          <a:lstStyle/>
          <a:p>
            <a:r>
              <a:rPr lang="en-US" sz="3100" b="1">
                <a:solidFill>
                  <a:srgbClr val="0070C0"/>
                </a:solidFill>
                <a:latin typeface="Times New Roman" pitchFamily="18" charset="0"/>
                <a:cs typeface="Times New Roman" pitchFamily="18" charset="0"/>
              </a:rPr>
              <a:t>Expected Outcomes of the Proposed Work</a:t>
            </a:r>
            <a:br>
              <a:rPr lang="en-US" b="1">
                <a:solidFill>
                  <a:srgbClr val="0070C0"/>
                </a:solidFill>
                <a:latin typeface="Times New Roman" pitchFamily="18" charset="0"/>
                <a:cs typeface="Times New Roman" pitchFamily="18" charset="0"/>
              </a:rPr>
            </a:br>
            <a:endParaRPr lang="en-US" b="1">
              <a:solidFill>
                <a:srgbClr val="0070C0"/>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980ACD8C-24B8-DB05-0245-87A70DE20A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pic>
        <p:nvPicPr>
          <p:cNvPr id="7" name="Content Placeholder 6" descr="A screenshot of a computer&#10;&#10;AI-generated content may be incorrect.">
            <a:extLst>
              <a:ext uri="{FF2B5EF4-FFF2-40B4-BE49-F238E27FC236}">
                <a16:creationId xmlns:a16="http://schemas.microsoft.com/office/drawing/2014/main" id="{05191371-232E-4C4C-A1A3-D921C5597761}"/>
              </a:ext>
            </a:extLst>
          </p:cNvPr>
          <p:cNvPicPr>
            <a:picLocks noGrp="1" noChangeAspect="1"/>
          </p:cNvPicPr>
          <p:nvPr>
            <p:ph idx="1"/>
          </p:nvPr>
        </p:nvPicPr>
        <p:blipFill>
          <a:blip r:embed="rId3"/>
          <a:stretch>
            <a:fillRect/>
          </a:stretch>
        </p:blipFill>
        <p:spPr>
          <a:xfrm>
            <a:off x="595862" y="1600201"/>
            <a:ext cx="7952275" cy="4525963"/>
          </a:xfrm>
          <a:prstGeom prst="rect">
            <a:avLst/>
          </a:prstGeom>
        </p:spPr>
      </p:pic>
    </p:spTree>
    <p:extLst>
      <p:ext uri="{BB962C8B-B14F-4D97-AF65-F5344CB8AC3E}">
        <p14:creationId xmlns:p14="http://schemas.microsoft.com/office/powerpoint/2010/main" val="2217583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50A31-6D95-9467-82AA-F873526C1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4B648C-513A-1AC8-51BA-1BB1F0FBC7AC}"/>
              </a:ext>
            </a:extLst>
          </p:cNvPr>
          <p:cNvSpPr>
            <a:spLocks noGrp="1"/>
          </p:cNvSpPr>
          <p:nvPr>
            <p:ph type="title"/>
          </p:nvPr>
        </p:nvSpPr>
        <p:spPr>
          <a:xfrm>
            <a:off x="1524000" y="274638"/>
            <a:ext cx="7162800" cy="868362"/>
          </a:xfrm>
        </p:spPr>
        <p:txBody>
          <a:bodyPr>
            <a:normAutofit fontScale="90000"/>
          </a:bodyPr>
          <a:lstStyle/>
          <a:p>
            <a:r>
              <a:rPr lang="en-US" sz="3100" b="1">
                <a:solidFill>
                  <a:srgbClr val="0070C0"/>
                </a:solidFill>
                <a:latin typeface="Times New Roman" pitchFamily="18" charset="0"/>
                <a:cs typeface="Times New Roman" pitchFamily="18" charset="0"/>
              </a:rPr>
              <a:t>Expected Outcomes of the Proposed Work</a:t>
            </a:r>
            <a:br>
              <a:rPr lang="en-US" b="1">
                <a:solidFill>
                  <a:srgbClr val="0070C0"/>
                </a:solidFill>
                <a:latin typeface="Times New Roman" pitchFamily="18" charset="0"/>
                <a:cs typeface="Times New Roman" pitchFamily="18" charset="0"/>
              </a:rPr>
            </a:br>
            <a:endParaRPr lang="en-US" b="1">
              <a:solidFill>
                <a:srgbClr val="0070C0"/>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A3D058D1-EC4E-61EE-EED4-FCC07B18F1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pic>
        <p:nvPicPr>
          <p:cNvPr id="7" name="Content Placeholder 6" descr="A screenshot of a computer&#10;&#10;AI-generated content may be incorrect.">
            <a:extLst>
              <a:ext uri="{FF2B5EF4-FFF2-40B4-BE49-F238E27FC236}">
                <a16:creationId xmlns:a16="http://schemas.microsoft.com/office/drawing/2014/main" id="{7DDB041C-7389-4CD0-104B-57925AED616D}"/>
              </a:ext>
            </a:extLst>
          </p:cNvPr>
          <p:cNvPicPr>
            <a:picLocks noGrp="1" noChangeAspect="1"/>
          </p:cNvPicPr>
          <p:nvPr>
            <p:ph idx="1"/>
          </p:nvPr>
        </p:nvPicPr>
        <p:blipFill>
          <a:blip r:embed="rId3"/>
          <a:stretch>
            <a:fillRect/>
          </a:stretch>
        </p:blipFill>
        <p:spPr>
          <a:xfrm>
            <a:off x="595862" y="1600201"/>
            <a:ext cx="7952275" cy="4525963"/>
          </a:xfrm>
          <a:prstGeom prst="rect">
            <a:avLst/>
          </a:prstGeom>
        </p:spPr>
      </p:pic>
    </p:spTree>
    <p:extLst>
      <p:ext uri="{BB962C8B-B14F-4D97-AF65-F5344CB8AC3E}">
        <p14:creationId xmlns:p14="http://schemas.microsoft.com/office/powerpoint/2010/main" val="3467718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web page&#10;&#10;AI-generated content may be incorrect.">
            <a:extLst>
              <a:ext uri="{FF2B5EF4-FFF2-40B4-BE49-F238E27FC236}">
                <a16:creationId xmlns:a16="http://schemas.microsoft.com/office/drawing/2014/main" id="{D5A75360-0970-3446-DF5D-512EB447BF49}"/>
              </a:ext>
            </a:extLst>
          </p:cNvPr>
          <p:cNvPicPr>
            <a:picLocks noGrp="1" noChangeAspect="1"/>
          </p:cNvPicPr>
          <p:nvPr>
            <p:ph idx="1"/>
          </p:nvPr>
        </p:nvPicPr>
        <p:blipFill>
          <a:blip r:embed="rId2"/>
          <a:stretch>
            <a:fillRect/>
          </a:stretch>
        </p:blipFill>
        <p:spPr>
          <a:xfrm>
            <a:off x="595862" y="1307927"/>
            <a:ext cx="7952275" cy="4525963"/>
          </a:xfrm>
          <a:prstGeom prst="rect">
            <a:avLst/>
          </a:prstGeom>
        </p:spPr>
      </p:pic>
    </p:spTree>
    <p:extLst>
      <p:ext uri="{BB962C8B-B14F-4D97-AF65-F5344CB8AC3E}">
        <p14:creationId xmlns:p14="http://schemas.microsoft.com/office/powerpoint/2010/main" val="3513997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E9BDF5F7-6FAE-5EF0-FF58-172DB2962F5D}"/>
              </a:ext>
            </a:extLst>
          </p:cNvPr>
          <p:cNvPicPr>
            <a:picLocks noGrp="1" noChangeAspect="1"/>
          </p:cNvPicPr>
          <p:nvPr>
            <p:ph idx="1"/>
          </p:nvPr>
        </p:nvPicPr>
        <p:blipFill>
          <a:blip r:embed="rId2"/>
          <a:stretch>
            <a:fillRect/>
          </a:stretch>
        </p:blipFill>
        <p:spPr>
          <a:xfrm>
            <a:off x="595862" y="1318365"/>
            <a:ext cx="7952275" cy="4525963"/>
          </a:xfrm>
          <a:prstGeom prst="rect">
            <a:avLst/>
          </a:prstGeom>
        </p:spPr>
      </p:pic>
    </p:spTree>
    <p:extLst>
      <p:ext uri="{BB962C8B-B14F-4D97-AF65-F5344CB8AC3E}">
        <p14:creationId xmlns:p14="http://schemas.microsoft.com/office/powerpoint/2010/main" val="2459394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A8AE51D0-63E2-8DF4-2122-C5DF5994B5C4}"/>
              </a:ext>
            </a:extLst>
          </p:cNvPr>
          <p:cNvPicPr>
            <a:picLocks noGrp="1" noChangeAspect="1"/>
          </p:cNvPicPr>
          <p:nvPr>
            <p:ph idx="1"/>
          </p:nvPr>
        </p:nvPicPr>
        <p:blipFill>
          <a:blip r:embed="rId2"/>
          <a:stretch>
            <a:fillRect/>
          </a:stretch>
        </p:blipFill>
        <p:spPr>
          <a:xfrm>
            <a:off x="595862" y="1026091"/>
            <a:ext cx="7952275" cy="4839113"/>
          </a:xfrm>
          <a:prstGeom prst="rect">
            <a:avLst/>
          </a:prstGeom>
        </p:spPr>
      </p:pic>
    </p:spTree>
    <p:extLst>
      <p:ext uri="{BB962C8B-B14F-4D97-AF65-F5344CB8AC3E}">
        <p14:creationId xmlns:p14="http://schemas.microsoft.com/office/powerpoint/2010/main" val="3065687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a:solidFill>
                  <a:srgbClr val="0070C0"/>
                </a:solidFill>
                <a:latin typeface="Times New Roman" pitchFamily="18" charset="0"/>
                <a:cs typeface="Times New Roman" pitchFamily="18" charset="0"/>
              </a:rPr>
              <a:t>Conclusion and Future Scope</a:t>
            </a:r>
            <a:endParaRPr lang="en-IN" sz="2800" b="1">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075239"/>
          </a:xfrm>
        </p:spPr>
        <p:txBody>
          <a:bodyPr>
            <a:normAutofit fontScale="85000" lnSpcReduction="20000"/>
          </a:bodyPr>
          <a:lstStyle/>
          <a:p>
            <a:pPr marL="0" indent="0">
              <a:buNone/>
            </a:pPr>
            <a:r>
              <a:rPr lang="en-US"/>
              <a:t>The Bank Customer 360 CRM View provides a complete customer overview through a centralized dashboard. It simplifies customer management, improves relationship manager efficiency, and enhances customer experience.</a:t>
            </a:r>
          </a:p>
          <a:p>
            <a:pPr marL="0" indent="0">
              <a:buNone/>
            </a:pPr>
            <a:endParaRPr lang="en-US"/>
          </a:p>
          <a:p>
            <a:pPr marL="0" indent="0">
              <a:buNone/>
            </a:pPr>
            <a:r>
              <a:rPr lang="en-US" b="1"/>
              <a:t>Future Scope</a:t>
            </a:r>
          </a:p>
          <a:p>
            <a:r>
              <a:rPr lang="en-US"/>
              <a:t>AI/ML-based recommendation engine. </a:t>
            </a:r>
          </a:p>
          <a:p>
            <a:r>
              <a:rPr lang="en-US"/>
              <a:t>Predictive customer analytics. </a:t>
            </a:r>
          </a:p>
          <a:p>
            <a:r>
              <a:rPr lang="en-US"/>
              <a:t>Mobile CRM application. </a:t>
            </a:r>
          </a:p>
          <a:p>
            <a:r>
              <a:rPr lang="en-US"/>
              <a:t>Real-time notification system. </a:t>
            </a:r>
          </a:p>
          <a:p>
            <a:r>
              <a:rPr lang="en-US"/>
              <a:t>Integration with advanced banking platforms. </a:t>
            </a:r>
          </a:p>
          <a:p>
            <a:r>
              <a:rPr lang="en-US"/>
              <a:t>Customer sentiment analysis. </a:t>
            </a:r>
          </a:p>
          <a:p>
            <a:endParaRPr lang="en-US"/>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p:txBody>
          <a:bodyPr vert="horz" lIns="91440" tIns="45720" rIns="91440" bIns="45720" rtlCol="0" anchor="t">
            <a:normAutofit/>
          </a:bodyPr>
          <a:lstStyle/>
          <a:p>
            <a:r>
              <a:rPr lang="en-IN" dirty="0">
                <a:ea typeface="+mn-lt"/>
                <a:cs typeface="+mn-lt"/>
                <a:hlinkClick r:id="rId2"/>
              </a:rPr>
              <a:t>https://www.salesforce.com/financial-services/cloud/crm/</a:t>
            </a:r>
            <a:endParaRPr lang="en-IN">
              <a:ea typeface="+mn-lt"/>
              <a:cs typeface="+mn-lt"/>
            </a:endParaRPr>
          </a:p>
          <a:p>
            <a:r>
              <a:rPr lang="en-IN" dirty="0">
                <a:ea typeface="+mn-lt"/>
                <a:cs typeface="+mn-lt"/>
                <a:hlinkClick r:id="rId3"/>
              </a:rPr>
              <a:t>https://www.zoho.com/crm/verticals/financial-services/</a:t>
            </a:r>
            <a:endParaRPr lang="en-IN" dirty="0">
              <a:ea typeface="+mn-lt"/>
              <a:cs typeface="+mn-lt"/>
            </a:endParaRPr>
          </a:p>
          <a:p>
            <a:pPr marL="0" indent="0">
              <a:buNone/>
            </a:pPr>
            <a:endParaRPr lang="en-IN" dirty="0">
              <a:ea typeface="Calibri"/>
              <a:cs typeface="Calibri"/>
            </a:endParaRPr>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18</Slides>
  <Notes>0</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 A Project Review Meeting    on  Bank Customer 360 – CRM View  </vt:lpstr>
      <vt:lpstr>Outline of the Presentation</vt:lpstr>
      <vt:lpstr>Abstract</vt:lpstr>
      <vt:lpstr>Introduction</vt:lpstr>
      <vt:lpstr>Problem Statement </vt:lpstr>
      <vt:lpstr>Project Flow Diagram</vt:lpstr>
      <vt:lpstr>Objectives with Justification </vt:lpstr>
      <vt:lpstr>Modules [Frontend web pages]</vt:lpstr>
      <vt:lpstr>Expected Outcomes of the Proposed Work </vt:lpstr>
      <vt:lpstr>Expected Outcomes of the Proposed Work </vt:lpstr>
      <vt:lpstr>Expected Outcomes of the Proposed Work </vt:lpstr>
      <vt:lpstr>Expected Outcomes of the Proposed Work </vt:lpstr>
      <vt:lpstr>PowerPoint Presentation</vt:lpstr>
      <vt:lpstr>PowerPoint Presentation</vt:lpstr>
      <vt:lpstr>PowerPoint Presentation</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revision>37</cp:revision>
  <dcterms:created xsi:type="dcterms:W3CDTF">2006-08-16T00:00:00Z</dcterms:created>
  <dcterms:modified xsi:type="dcterms:W3CDTF">2026-06-19T04:17:42Z</dcterms:modified>
</cp:coreProperties>
</file>